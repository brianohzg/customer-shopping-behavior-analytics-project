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rimson Pro Light" panose="020B0604020202020204" charset="0"/>
      <p:regular r:id="rId17"/>
    </p:embeddedFont>
    <p:embeddedFont>
      <p:font typeface="Crimson Pro SemiBold" panose="020B0604020202020204" charset="0"/>
      <p:regular r:id="rId18"/>
    </p:embeddedFont>
    <p:embeddedFont>
      <p:font typeface="Heebo" pitchFamily="2" charset="-79"/>
      <p:regular r:id="rId19"/>
    </p:embeddedFont>
    <p:embeddedFont>
      <p:font typeface="Heebo Bold" charset="-79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04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Uncovering insights from </a:t>
            </a: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3,900 transactions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drive smarter marketing and business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3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272433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048747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63016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1582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5214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1582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35214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Item, Category, Amount, Season, Size, Color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03525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Shopping Behavior: Discount Applied, Promo Code, Previous Purchases, Frequency, Review Rating,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7579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Preparation in Python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853282"/>
            <a:ext cx="22904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962224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2268736"/>
            <a:ext cx="2290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Pandas import, df.info(), .describe()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8342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8342" y="1853282"/>
            <a:ext cx="22905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2928342" y="1962224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Handle 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28342" y="2268736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Imputed Review Rating using median per category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3192289"/>
            <a:ext cx="22904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301231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Standardize &amp; Engineer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6119" y="3607743"/>
            <a:ext cx="22904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Snake_case columns, age_group bins, purchase_frequency_days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8342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8342" y="3192289"/>
            <a:ext cx="22905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9" name="Text 16"/>
          <p:cNvSpPr/>
          <p:nvPr/>
        </p:nvSpPr>
        <p:spPr>
          <a:xfrm>
            <a:off x="2928342" y="3301231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28342" y="3607743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Cleaned DataFrame loaded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4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Gender &amp; Shipping Type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8" y="1796504"/>
            <a:ext cx="1718890" cy="885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5158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31479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Males generate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2X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revenue than females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293790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Shipping Type Comparison with Average Purchase Amount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65700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No distinct difference between shipping type benefit 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930" y="3160886"/>
            <a:ext cx="2028974" cy="841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Discount Behavior &amp; Top-Rated Products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22" y="1212800"/>
            <a:ext cx="2034877" cy="1887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56961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10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932831"/>
            <a:ext cx="5177582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 with the highest average review ratings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Glover, Sandals, Boots, Hat, Skirt, T-Shirt, Handbag, Belt, Jacket, Sweater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67270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Discount-Dependent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4035921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Items with the highest percentage of purchases with discounts applied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50" y="3335015"/>
            <a:ext cx="1976810" cy="1251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87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Subscription &amp; Age Group Insights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43087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Subscription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82936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 subscription customers are 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2.7 times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subscribers. 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generated by non subscribers are also 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2.7 times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14" y="1260201"/>
            <a:ext cx="2795855" cy="53384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6" y="2199680"/>
            <a:ext cx="1805384" cy="1115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9332" y="2445246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Age Group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469332" y="2785095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Young Adults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are the top revenue-contributing age group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6119" y="3812604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Repeat Buyers &amp; Subscription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6119" y="4152454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Customers with </a:t>
            </a:r>
            <a:r>
              <a:rPr lang="en-US" sz="1050" b="1" dirty="0">
                <a:solidFill>
                  <a:srgbClr val="3055F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&gt;5 previous purchases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 not subscribers yet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409" y="3663628"/>
            <a:ext cx="2457524" cy="836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74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1639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Frequency-Based Segments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4854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79% 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 customer base are “Loyal” customers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1622524"/>
            <a:ext cx="2628230" cy="934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35052"/>
            <a:ext cx="2628230" cy="1141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4988" y="320449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Recency + Frequency Segments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4988" y="356770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segments to focus are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Regulars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At-Risk Loyalist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Champions.</a:t>
            </a:r>
            <a:endParaRPr lang="en-US" sz="1100" dirty="0">
              <a:solidFill>
                <a:srgbClr val="3055F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45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Segments, Categories &amp; Payment Methods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240185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 Subscription Rates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49896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Breakdown of subscription rates across customer segments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184" y="1026324"/>
            <a:ext cx="2965697" cy="8692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52" y="1989424"/>
            <a:ext cx="2327648" cy="16804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1817" y="2519958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3 Products per Category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61817" y="2829669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Most purchased products within each category by order count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96119" y="3888358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Method Revenue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6119" y="4198069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Credit Card 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drives the highest purchase amounts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184" y="3557124"/>
            <a:ext cx="3112127" cy="1120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723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3428"/>
            <a:ext cx="6483697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25240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566998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98" y="148119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Exclusive benefits to convert non-subscribers and increase spending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89722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331481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Loyalty Program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31481" y="1481198"/>
            <a:ext cx="2339206" cy="9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Reward repeat buyers into "Loyal" segment. Create engagement through games with “Core regulars”.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54204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095963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5963" y="1481199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Balance sales boosts with margin control. Curate budget catered for various customer segmentation for efficient spending.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240" y="2671973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98" y="281373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98" y="3120243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Highlight top-rated, best-selling products. Build Top-of-the-Mind awareness.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1963" y="2671973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13722" y="281373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3722" y="3120243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high-revenue age groups &amp; express shipping users.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57024DF-CAF5-42EF-8CD0-6D441656C36E}"/>
              </a:ext>
            </a:extLst>
          </p:cNvPr>
          <p:cNvSpPr/>
          <p:nvPr/>
        </p:nvSpPr>
        <p:spPr>
          <a:xfrm>
            <a:off x="425240" y="3799470"/>
            <a:ext cx="8151688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2E3CF0B-B927-43E8-8D0E-334661DC36D8}"/>
              </a:ext>
            </a:extLst>
          </p:cNvPr>
          <p:cNvSpPr/>
          <p:nvPr/>
        </p:nvSpPr>
        <p:spPr>
          <a:xfrm>
            <a:off x="566997" y="3889002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</a:rPr>
              <a:t>Partnerships</a:t>
            </a:r>
            <a:endParaRPr lang="en-US" sz="13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6F5F57A-47E1-4395-87D6-86BD97202CD5}"/>
              </a:ext>
            </a:extLst>
          </p:cNvPr>
          <p:cNvSpPr/>
          <p:nvPr/>
        </p:nvSpPr>
        <p:spPr>
          <a:xfrm>
            <a:off x="566998" y="4192399"/>
            <a:ext cx="768165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Partner up with credit card payment brands to drive diverse payment plans, rewards and discount. 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441</Words>
  <Application>Microsoft Office PowerPoint</Application>
  <PresentationFormat>On-screen Show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Heebo Bold</vt:lpstr>
      <vt:lpstr>Crimson Pro SemiBold</vt:lpstr>
      <vt:lpstr>Crimson Pro Light</vt:lpstr>
      <vt:lpstr>Calibri</vt:lpstr>
      <vt:lpstr>Heebo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Brian ozg</cp:lastModifiedBy>
  <cp:revision>7</cp:revision>
  <dcterms:created xsi:type="dcterms:W3CDTF">2026-07-22T16:46:58Z</dcterms:created>
  <dcterms:modified xsi:type="dcterms:W3CDTF">2026-07-22T17:09:55Z</dcterms:modified>
</cp:coreProperties>
</file>